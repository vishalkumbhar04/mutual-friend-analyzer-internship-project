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92608"/>
            <a:ext cx="329184" cy="329184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" y="886968"/>
            <a:ext cx="237744" cy="237744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37160"/>
            <a:ext cx="274320" cy="274320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6096" y="219456"/>
            <a:ext cx="292608" cy="292608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85632" y="987552"/>
            <a:ext cx="219456" cy="219456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04304" y="786384"/>
            <a:ext cx="256032" cy="256032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4261104"/>
            <a:ext cx="256032" cy="256032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1016" y="4562856"/>
            <a:ext cx="201168" cy="201168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4152" y="4050792"/>
            <a:ext cx="310896" cy="310896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68512" y="4645152"/>
            <a:ext cx="219456" cy="219456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91440"/>
            <a:ext cx="182880" cy="182880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4745736"/>
            <a:ext cx="201168" cy="201168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1ABC9C">
              <a:alpha val="18000"/>
            </a:srgbClr>
          </a:solidFill>
          <a:ln w="1270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-914400" y="3474720"/>
            <a:ext cx="3657600" cy="3657600"/>
          </a:xfrm>
          <a:prstGeom prst="ellipse">
            <a:avLst/>
          </a:prstGeom>
          <a:solidFill>
            <a:srgbClr val="1B4F72">
              <a:alpha val="20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D. Y. Patil College of Engineering and Innovation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Mutual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48640" y="1554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Analyzer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3200400" y="2395728"/>
            <a:ext cx="2743200" cy="274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14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Java &amp; Its Applications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0" y="3017520"/>
            <a:ext cx="4023360" cy="1371600"/>
          </a:xfrm>
          <a:prstGeom prst="rect">
            <a:avLst/>
          </a:prstGeom>
          <a:solidFill>
            <a:srgbClr val="154360">
              <a:alpha val="7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1089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Shivraj Kumbhar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13274  |  Div: B  |  T.E. Computer Engineering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Alpana Adsul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2025–2026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of Skill Development  • 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75488"/>
          </a:xfrm>
          <a:prstGeom prst="rect">
            <a:avLst/>
          </a:prstGeom>
          <a:solidFill>
            <a:srgbClr val="1B4F72">
              <a:alpha val="60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 &amp; Objectives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475488"/>
          </a:xfrm>
          <a:prstGeom prst="rect">
            <a:avLst/>
          </a:prstGeom>
          <a:solidFill>
            <a:srgbClr val="154360">
              <a:alpha val="60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Organization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475488"/>
          </a:xfrm>
          <a:prstGeom prst="rect">
            <a:avLst/>
          </a:prstGeom>
          <a:solidFill>
            <a:srgbClr val="1B4F72">
              <a:alpha val="60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Methodology &amp; Proposed Solution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475488"/>
          </a:xfrm>
          <a:prstGeom prst="rect">
            <a:avLst/>
          </a:prstGeom>
          <a:solidFill>
            <a:srgbClr val="154360">
              <a:alpha val="60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74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System 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475488"/>
          </a:xfrm>
          <a:prstGeom prst="rect">
            <a:avLst/>
          </a:prstGeom>
          <a:solidFill>
            <a:srgbClr val="1B4F72">
              <a:alpha val="60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461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Key Features &amp; Technology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8412480" cy="475488"/>
          </a:xfrm>
          <a:prstGeom prst="rect">
            <a:avLst/>
          </a:prstGeom>
          <a:solidFill>
            <a:srgbClr val="154360">
              <a:alpha val="60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947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 &amp; Screenshots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8412480" cy="475488"/>
          </a:xfrm>
          <a:prstGeom prst="rect">
            <a:avLst/>
          </a:prstGeom>
          <a:solidFill>
            <a:srgbClr val="1B4F72">
              <a:alpha val="60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434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 &amp; Learnings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application that models and analyzes social network relationships using efficient data structures. The system identifies mutual friends between users by applying Set Algebra operations.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2057400"/>
            <a:ext cx="2651760" cy="256032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057400"/>
            <a:ext cx="2651760" cy="411480"/>
          </a:xfrm>
          <a:prstGeom prst="rect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Set-Based 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user's friends stored in HashSet/TreeSet to ensure uniqueness and prevent duplicates.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2057400"/>
            <a:ext cx="2651760" cy="256032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057400"/>
            <a:ext cx="2651760" cy="411480"/>
          </a:xfrm>
          <a:prstGeom prst="rect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Algebra Operations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54203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retainAll() intersection to efficiently compute mutual friends between any two users.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2057400"/>
            <a:ext cx="2651760" cy="256032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057400"/>
            <a:ext cx="2651760" cy="411480"/>
          </a:xfrm>
          <a:prstGeom prst="rect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54203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 auto-sorts mutual friends alphabetically — no manual sorting needed.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Java  |  Collections Framework  |  HashSet  |  TreeSet  |  Map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ABC9C">
              <a:alpha val="8000"/>
            </a:srgbClr>
          </a:solidFill>
          <a:ln w="1270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Background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120640" cy="411480"/>
          </a:xfrm>
          <a:prstGeom prst="rect">
            <a:avLst/>
          </a:prstGeom>
          <a:solidFill>
            <a:srgbClr val="1B4F72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20240" y="1179576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of Skill Development (ASD)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5120640" cy="411480"/>
          </a:xfrm>
          <a:prstGeom prst="rect">
            <a:avLst/>
          </a:prstGeom>
          <a:solidFill>
            <a:srgbClr val="154360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55064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20240" y="1655064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Non-profit, Government-registered NGO/NPO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93976"/>
            <a:ext cx="5120640" cy="411480"/>
          </a:xfrm>
          <a:prstGeom prst="rect">
            <a:avLst/>
          </a:prstGeom>
          <a:solidFill>
            <a:srgbClr val="1B4F72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Entity: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2130552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Ardent Computech Pvt. Ltd. (MSME, ISO 9001:2015)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5120640" cy="411480"/>
          </a:xfrm>
          <a:prstGeom prst="rect">
            <a:avLst/>
          </a:prstGeom>
          <a:solidFill>
            <a:srgbClr val="154360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06040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0240" y="2606040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gap between academia and industry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5120640" cy="411480"/>
          </a:xfrm>
          <a:prstGeom prst="rect">
            <a:avLst/>
          </a:prstGeom>
          <a:solidFill>
            <a:srgbClr val="1B4F72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81528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3081528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Certiport Test Center, AICTE NEAT MoU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5120640" cy="411480"/>
          </a:xfrm>
          <a:prstGeom prst="rect">
            <a:avLst/>
          </a:prstGeom>
          <a:solidFill>
            <a:srgbClr val="154360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5701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20240" y="3557016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and Its Applications (Project-Based)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5120640" cy="411480"/>
          </a:xfrm>
          <a:prstGeom prst="rect">
            <a:avLst/>
          </a:prstGeom>
          <a:solidFill>
            <a:srgbClr val="1B4F72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32504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20240" y="4032504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(Feb–Mar 2026)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471416"/>
            <a:ext cx="5120640" cy="411480"/>
          </a:xfrm>
          <a:prstGeom prst="rect">
            <a:avLst/>
          </a:prstGeom>
          <a:solidFill>
            <a:srgbClr val="154360">
              <a:alpha val="45000"/>
            </a:srgbClr>
          </a:solidFill>
          <a:ln w="635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07992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20240" y="4507992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Mahendra Datta, Head – L&amp;D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1645920"/>
            <a:ext cx="2286000" cy="2286000"/>
          </a:xfrm>
          <a:prstGeom prst="ellipse">
            <a:avLst/>
          </a:prstGeom>
          <a:solidFill>
            <a:srgbClr val="F39C12">
              <a:alpha val="8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A++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62179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Grade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16 – Mar 30,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188720"/>
          </a:xfrm>
          <a:prstGeom prst="rect">
            <a:avLst/>
          </a:prstGeom>
          <a:solidFill>
            <a:srgbClr val="1B4F72">
              <a:alpha val="55000"/>
            </a:srgbClr>
          </a:solidFill>
          <a:ln w="889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261872"/>
            <a:ext cx="548640" cy="54864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Set-Based 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using HashSet/TreeSet to store friends, ensuring uniqueness and preventing duplicates.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188720"/>
          </a:xfrm>
          <a:prstGeom prst="rect">
            <a:avLst/>
          </a:prstGeom>
          <a:solidFill>
            <a:srgbClr val="1B4F72">
              <a:alpha val="55000"/>
            </a:srgbClr>
          </a:solidFill>
          <a:ln w="889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261872"/>
            <a:ext cx="548640" cy="54864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170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Algebra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361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retainAll() intersection to efficiently find mutual friends between two users.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4114800" cy="1188720"/>
          </a:xfrm>
          <a:prstGeom prst="rect">
            <a:avLst/>
          </a:prstGeom>
          <a:solidFill>
            <a:srgbClr val="1B4F72">
              <a:alpha val="55000"/>
            </a:srgbClr>
          </a:solidFill>
          <a:ln w="889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560320"/>
            <a:ext cx="548640" cy="54864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fast and accurate analysis of user relationships using optimized Java data structures.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395728"/>
            <a:ext cx="4114800" cy="1188720"/>
          </a:xfrm>
          <a:prstGeom prst="rect">
            <a:avLst/>
          </a:prstGeom>
          <a:solidFill>
            <a:srgbClr val="1B4F72">
              <a:alpha val="55000"/>
            </a:srgbClr>
          </a:solidFill>
          <a:ln w="889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2560320"/>
            <a:ext cx="548640" cy="54864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Display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834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TreeSet to display mutual friends in alphabetical order without manual sorting logic.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4114800" cy="1188720"/>
          </a:xfrm>
          <a:prstGeom prst="rect">
            <a:avLst/>
          </a:prstGeom>
          <a:solidFill>
            <a:srgbClr val="1B4F72">
              <a:alpha val="55000"/>
            </a:srgbClr>
          </a:solidFill>
          <a:ln w="889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3858768"/>
            <a:ext cx="548640" cy="54864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858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767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13308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in Java Collections, data structures and algorithm implementation.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94176"/>
            <a:ext cx="4114800" cy="1188720"/>
          </a:xfrm>
          <a:prstGeom prst="rect">
            <a:avLst/>
          </a:prstGeom>
          <a:solidFill>
            <a:srgbClr val="1B4F72">
              <a:alpha val="55000"/>
            </a:srgbClr>
          </a:solidFill>
          <a:ln w="889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858768"/>
            <a:ext cx="548640" cy="548640"/>
          </a:xfrm>
          <a:prstGeom prst="ellipse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858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767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Bridging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13308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real social network problem, bridging theory with practical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08760" cy="3474720"/>
          </a:xfrm>
          <a:prstGeom prst="rect">
            <a:avLst/>
          </a:prstGeom>
          <a:solidFill>
            <a:srgbClr val="1B4F72">
              <a:alpha val="65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594360" cy="594360"/>
          </a:xfrm>
          <a:prstGeom prst="ellipse">
            <a:avLst/>
          </a:prstGeom>
          <a:solidFill>
            <a:srgbClr val="1ABC9C">
              <a:alpha val="9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325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friend data via CLI or web interface. Stored as Map&lt;String, Set&lt;String&gt;&gt;.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10512" y="1737360"/>
            <a:ext cx="18288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188720"/>
            <a:ext cx="1508760" cy="3474720"/>
          </a:xfrm>
          <a:prstGeom prst="rect">
            <a:avLst/>
          </a:prstGeom>
          <a:solidFill>
            <a:srgbClr val="1B4F72">
              <a:alpha val="65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234440"/>
            <a:ext cx="594360" cy="594360"/>
          </a:xfrm>
          <a:prstGeom prst="ellipse">
            <a:avLst/>
          </a:prstGeom>
          <a:solidFill>
            <a:srgbClr val="1ABC9C">
              <a:alpha val="9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84832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423160"/>
            <a:ext cx="1325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 converted to lowercase. Duplicates auto-removed via Set properties.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47872" y="1737360"/>
            <a:ext cx="18288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188720"/>
            <a:ext cx="1508760" cy="3474720"/>
          </a:xfrm>
          <a:prstGeom prst="rect">
            <a:avLst/>
          </a:prstGeom>
          <a:solidFill>
            <a:srgbClr val="1B4F72">
              <a:alpha val="65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234440"/>
            <a:ext cx="594360" cy="594360"/>
          </a:xfrm>
          <a:prstGeom prst="ellipse">
            <a:avLst/>
          </a:prstGeom>
          <a:solidFill>
            <a:srgbClr val="1ABC9C">
              <a:alpha val="9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22192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423160"/>
            <a:ext cx="1325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users with max connections, analyze friendship patterns, verify stored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85232" y="1737360"/>
            <a:ext cx="18288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188720"/>
            <a:ext cx="1508760" cy="3474720"/>
          </a:xfrm>
          <a:prstGeom prst="rect">
            <a:avLst/>
          </a:prstGeom>
          <a:solidFill>
            <a:srgbClr val="1B4F72">
              <a:alpha val="65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234440"/>
            <a:ext cx="594360" cy="594360"/>
          </a:xfrm>
          <a:prstGeom prst="ellipse">
            <a:avLst/>
          </a:prstGeom>
          <a:solidFill>
            <a:srgbClr val="1ABC9C">
              <a:alpha val="9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59552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423160"/>
            <a:ext cx="1325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retainAll() for intersection, addAll() for union, removeAll() for friend suggestions.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22592" y="1737360"/>
            <a:ext cx="182880" cy="36576"/>
          </a:xfrm>
          <a:prstGeom prst="rect">
            <a:avLst/>
          </a:prstGeom>
          <a:solidFill>
            <a:srgbClr val="1ABC9C">
              <a:alpha val="6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188720"/>
            <a:ext cx="1508760" cy="3474720"/>
          </a:xfrm>
          <a:prstGeom prst="rect">
            <a:avLst/>
          </a:prstGeom>
          <a:solidFill>
            <a:srgbClr val="1B4F72">
              <a:alpha val="65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1234440"/>
            <a:ext cx="594360" cy="594360"/>
          </a:xfrm>
          <a:prstGeom prst="ellipse">
            <a:avLst/>
          </a:prstGeom>
          <a:solidFill>
            <a:srgbClr val="1ABC9C">
              <a:alpha val="9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96912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Display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2423160"/>
            <a:ext cx="1325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 provides auto-sorted alphabetical results. CLI or web dashboard.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54360">
              <a:alpha val="80000"/>
            </a:srgbClr>
          </a:solidFill>
          <a:ln w="635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Structure:  Map&lt;String, Set&lt;String&gt;&gt;  where each user maps to a unique Set of friend names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3657600"/>
          </a:xfrm>
          <a:prstGeom prst="rect">
            <a:avLst/>
          </a:prstGeom>
          <a:solidFill>
            <a:srgbClr val="1A5276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554480" cy="256032"/>
          </a:xfrm>
          <a:prstGeom prst="rect">
            <a:avLst/>
          </a:prstGeom>
          <a:solidFill>
            <a:srgbClr val="1A5276">
              <a:alpha val="9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Web Interface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84248" y="1097280"/>
            <a:ext cx="1554480" cy="3657600"/>
          </a:xfrm>
          <a:prstGeom prst="rect">
            <a:avLst/>
          </a:prstGeom>
          <a:solidFill>
            <a:srgbClr val="1B6B4C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4248" y="1097280"/>
            <a:ext cx="1554480" cy="256032"/>
          </a:xfrm>
          <a:prstGeom prst="rect">
            <a:avLst/>
          </a:prstGeom>
          <a:solidFill>
            <a:srgbClr val="1B6B4C">
              <a:alpha val="90000"/>
            </a:srgbClr>
          </a:solidFill>
          <a:ln w="12700">
            <a:solidFill>
              <a:srgbClr val="1B6B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1097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1463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9968" y="2029968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Mgmt, Friend Mgmt, Mutual Finder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8728" y="23774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94176" y="1097280"/>
            <a:ext cx="1554480" cy="3657600"/>
          </a:xfrm>
          <a:prstGeom prst="rect">
            <a:avLst/>
          </a:prstGeom>
          <a:solidFill>
            <a:srgbClr val="6E2F84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097280"/>
            <a:ext cx="1554480" cy="256032"/>
          </a:xfrm>
          <a:prstGeom prst="rect">
            <a:avLst/>
          </a:prstGeom>
          <a:solidFill>
            <a:srgbClr val="6E2F84">
              <a:alpha val="90000"/>
            </a:srgbClr>
          </a:solidFill>
          <a:ln w="12700">
            <a:solidFill>
              <a:srgbClr val="6E2F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097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39896" y="1463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39896" y="2029968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 Set&lt;String&gt;&gt;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48656" y="23774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04104" y="1097280"/>
            <a:ext cx="1554480" cy="3657600"/>
          </a:xfrm>
          <a:prstGeom prst="rect">
            <a:avLst/>
          </a:prstGeom>
          <a:solidFill>
            <a:srgbClr val="B7770D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04104" y="1097280"/>
            <a:ext cx="1554480" cy="256032"/>
          </a:xfrm>
          <a:prstGeom prst="rect">
            <a:avLst/>
          </a:prstGeom>
          <a:solidFill>
            <a:srgbClr val="B7770D">
              <a:alpha val="90000"/>
            </a:srgbClr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04104" y="1097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9824" y="1463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9824" y="2029968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Algebra — retainAll()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58584" y="23774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14032" y="1097280"/>
            <a:ext cx="1554480" cy="3657600"/>
          </a:xfrm>
          <a:prstGeom prst="rect">
            <a:avLst/>
          </a:prstGeom>
          <a:solidFill>
            <a:srgbClr val="1A5276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14032" y="1097280"/>
            <a:ext cx="1554480" cy="256032"/>
          </a:xfrm>
          <a:prstGeom prst="rect">
            <a:avLst/>
          </a:prstGeom>
          <a:solidFill>
            <a:srgbClr val="1A5276">
              <a:alpha val="9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1097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59752" y="1463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59752" y="2029968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 Sorted Results + Display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User Input  →  Application Processes  →  Data Stored in Map  →  Set Operations (retainAll)  →  TreeSet  →  Display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1B4F72">
              <a:alpha val="12000"/>
            </a:srgbClr>
          </a:solidFill>
          <a:ln w="12700">
            <a:solidFill>
              <a:srgbClr val="1B4F7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0698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106984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26680" y="10698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8595360" cy="393192"/>
          </a:xfrm>
          <a:prstGeom prst="rect">
            <a:avLst/>
          </a:prstGeom>
          <a:solidFill>
            <a:srgbClr val="1B4F72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99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25880" y="149961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0360" y="149961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user/friend data via CLI or web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26680" y="14996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8595360" cy="393192"/>
          </a:xfrm>
          <a:prstGeom prst="rect">
            <a:avLst/>
          </a:prstGeom>
          <a:solidFill>
            <a:srgbClr val="154360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38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25880" y="1938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80360" y="1938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standardization, dedup via 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26680" y="19385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340864"/>
            <a:ext cx="8595360" cy="393192"/>
          </a:xfrm>
          <a:prstGeom prst="rect">
            <a:avLst/>
          </a:prstGeom>
          <a:solidFill>
            <a:srgbClr val="1B4F72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2588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80360" y="2377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 Set&lt;String&gt;&gt; for efficient access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2668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779776"/>
            <a:ext cx="8595360" cy="393192"/>
          </a:xfrm>
          <a:prstGeom prst="rect">
            <a:avLst/>
          </a:prstGeom>
          <a:solidFill>
            <a:srgbClr val="154360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163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25880" y="2816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80360" y="2816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UI for user interaction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26680" y="2816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218688"/>
            <a:ext cx="8595360" cy="393192"/>
          </a:xfrm>
          <a:prstGeom prst="rect">
            <a:avLst/>
          </a:prstGeom>
          <a:solidFill>
            <a:srgbClr val="1B4F72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2552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REQ-006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25880" y="325526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Friends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80360" y="32552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mutual friends between two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26680" y="32552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595360" cy="393192"/>
          </a:xfrm>
          <a:prstGeom prst="rect">
            <a:avLst/>
          </a:prstGeom>
          <a:solidFill>
            <a:srgbClr val="154360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6941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REQ-007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325880" y="36941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Output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80360" y="36941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 for alphabetical order display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36941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096512"/>
            <a:ext cx="8595360" cy="393192"/>
          </a:xfrm>
          <a:prstGeom prst="rect">
            <a:avLst/>
          </a:prstGeom>
          <a:solidFill>
            <a:srgbClr val="1B4F72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1330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REQ-010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325880" y="4133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80360" y="4133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invalid inputs &amp; non-existing users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26680" y="41330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535424"/>
            <a:ext cx="8595360" cy="393192"/>
          </a:xfrm>
          <a:prstGeom prst="rect">
            <a:avLst/>
          </a:prstGeom>
          <a:solidFill>
            <a:srgbClr val="154360">
              <a:alpha val="40000"/>
            </a:srgbClr>
          </a:solidFill>
          <a:ln w="381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572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REQ-011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32588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Suggest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80360" y="4572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friends using Set difference logic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2668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BC9C">
              <a:alpha val="7000"/>
            </a:srgbClr>
          </a:solidFill>
          <a:ln w="1270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Code Snippet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06040" cy="914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978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5636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business logic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1143000"/>
            <a:ext cx="2606040" cy="914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978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5636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fast storage, uniqueness guaranteed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52744" y="1143000"/>
            <a:ext cx="2606040" cy="914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1978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62472" y="15636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Auto-sorted alphabetical output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2606040" cy="914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" y="26151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user→friends mapping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36392" y="2194560"/>
            <a:ext cx="2606040" cy="914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retainAll()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26151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— finds mutual friends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52744" y="2194560"/>
            <a:ext cx="2606040" cy="914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HTTP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62472" y="26151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 for interaction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8503920" cy="1554480"/>
          </a:xfrm>
          <a:prstGeom prst="rect">
            <a:avLst/>
          </a:prstGeom>
          <a:solidFill>
            <a:srgbClr val="07152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 — Mutual Friend Calculation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mutual = </a:t>
            </a:r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TreeSet&lt;&gt;</a:t>
            </a:r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(userFriendsMap.get(user1));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retainAll</a:t>
            </a:r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(userFriendsMap.get(user2));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mutual now contains only friends common to both user1 and user2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evaluated through an interactive dashboard displaying user relationships, mutual friend analysis, network graphs, and a connection matrix.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114800" cy="1325880"/>
          </a:xfrm>
          <a:prstGeom prst="rect">
            <a:avLst/>
          </a:prstGeom>
          <a:solidFill>
            <a:srgbClr val="1B4F72">
              <a:alpha val="55000"/>
            </a:srgbClr>
          </a:solidFill>
          <a:ln w="10160">
            <a:solidFill>
              <a:srgbClr val="1ABC9C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Mutual Friends Tab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two users to instantly view shared connections sorted alphabetically.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4114800" cy="1325880"/>
          </a:xfrm>
          <a:prstGeom prst="rect">
            <a:avLst/>
          </a:prstGeom>
          <a:solidFill>
            <a:srgbClr val="1B4F72">
              <a:alpha val="55000"/>
            </a:srgbClr>
          </a:solidFill>
          <a:ln w="10160">
            <a:solidFill>
              <a:srgbClr val="1ABC9C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Suggestions Tab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19456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recommendations generated via Set difference operations.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54680"/>
            <a:ext cx="4114800" cy="1325880"/>
          </a:xfrm>
          <a:prstGeom prst="rect">
            <a:avLst/>
          </a:prstGeom>
          <a:solidFill>
            <a:srgbClr val="1B4F72">
              <a:alpha val="55000"/>
            </a:srgbClr>
          </a:solidFill>
          <a:ln w="10160">
            <a:solidFill>
              <a:srgbClr val="1ABC9C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Network 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node-edge graph showing user connections; central nodes = highly connected users.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4114800" cy="1325880"/>
          </a:xfrm>
          <a:prstGeom prst="rect">
            <a:avLst/>
          </a:prstGeom>
          <a:solidFill>
            <a:srgbClr val="1B4F72">
              <a:alpha val="55000"/>
            </a:srgbClr>
          </a:solidFill>
          <a:ln w="10160">
            <a:solidFill>
              <a:srgbClr val="1ABC9C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Matrix 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65760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view of all user-to-user connection relationships at a glance.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154360">
              <a:alpha val="70000"/>
            </a:srgbClr>
          </a:solidFill>
          <a:ln w="1270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731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Users: amit (3 friends), aniket (1 friend), sumit (1 friend), vishal (1 friend)  |  Grade Received: A++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1ABC9C">
              <a:alpha val="10000"/>
            </a:srgbClr>
          </a:solidFill>
          <a:ln w="12700">
            <a:solidFill>
              <a:srgbClr val="1ABC9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1B4F72">
              <a:alpha val="12000"/>
            </a:srgbClr>
          </a:solidFill>
          <a:ln w="12700">
            <a:solidFill>
              <a:srgbClr val="1B4F7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Learnings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solidFill>
            <a:srgbClr val="1B4F72">
              <a:alpha val="65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Media Mutual Friends Analyzer successfully integrates efficient data structures and Set Algebra operations to provide meaningful insights into social network relationships. The system is user-friendly, handles edge cases robustly, and delivers fast, sorted results.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Java Collections Framework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 of Set Algebra in real-world scenarios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and data structure optimization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lifecycle (design → code → test → deploy)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skills: communication &amp; problem-solving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880360" cy="3840480"/>
          </a:xfrm>
          <a:prstGeom prst="rect">
            <a:avLst/>
          </a:prstGeom>
          <a:solidFill>
            <a:srgbClr val="1B4F72">
              <a:alpha val="55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1704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167128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friend suggestion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734056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734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3300984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3009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 (D3.js)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867912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8679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analytics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92608"/>
            <a:ext cx="329184" cy="329184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" y="886968"/>
            <a:ext cx="237744" cy="237744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37160"/>
            <a:ext cx="274320" cy="274320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6096" y="219456"/>
            <a:ext cx="292608" cy="292608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85632" y="987552"/>
            <a:ext cx="219456" cy="219456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04304" y="786384"/>
            <a:ext cx="256032" cy="256032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4261104"/>
            <a:ext cx="256032" cy="256032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1016" y="4562856"/>
            <a:ext cx="201168" cy="201168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4152" y="4050792"/>
            <a:ext cx="310896" cy="310896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68512" y="4645152"/>
            <a:ext cx="219456" cy="219456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91440"/>
            <a:ext cx="182880" cy="182880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4745736"/>
            <a:ext cx="201168" cy="201168"/>
          </a:xfrm>
          <a:prstGeom prst="ellipse">
            <a:avLst/>
          </a:prstGeom>
          <a:solidFill>
            <a:srgbClr val="1ABC9C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82880"/>
            <a:ext cx="4572000" cy="4572000"/>
          </a:xfrm>
          <a:prstGeom prst="ellipse">
            <a:avLst/>
          </a:prstGeom>
          <a:solidFill>
            <a:srgbClr val="1ABC9C">
              <a:alpha val="7000"/>
            </a:srgbClr>
          </a:solidFill>
          <a:ln w="12700">
            <a:solidFill>
              <a:srgbClr val="1ABC9C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3200400" y="2084832"/>
            <a:ext cx="27432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Mutual Friend Analyzer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Shivraj Kumbhar  |  Roll No: 13274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T.E. Computer Engineering  |  Dr. DYPCOEI, Pune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Dr. Alpana Adsul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3840480"/>
            <a:ext cx="4572000" cy="594360"/>
          </a:xfrm>
          <a:prstGeom prst="rect">
            <a:avLst/>
          </a:prstGeom>
          <a:solidFill>
            <a:srgbClr val="1ABC9C">
              <a:alpha val="75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8404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of Skill Development  |  AY 2025–2026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Savitribai Phule Pune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Mutual Friend Analyzer</dc:title>
  <dc:subject>PptxGenJS Presentation</dc:subject>
  <dc:creator>PptxGenJS</dc:creator>
  <cp:lastModifiedBy>PptxGenJS</cp:lastModifiedBy>
  <cp:revision>1</cp:revision>
  <dcterms:created xsi:type="dcterms:W3CDTF">2026-05-13T08:30:23Z</dcterms:created>
  <dcterms:modified xsi:type="dcterms:W3CDTF">2026-05-13T08:30:23Z</dcterms:modified>
</cp:coreProperties>
</file>